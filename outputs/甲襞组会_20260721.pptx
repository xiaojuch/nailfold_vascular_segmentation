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15dd690ff04426" /><Relationship Type="http://schemas.openxmlformats.org/officeDocument/2006/relationships/extended-properties" Target="/docProps/app.xml" Id="R33c7d1965e2943ed" /><Relationship Type="http://schemas.openxmlformats.org/officeDocument/2006/relationships/officeDocument" Target="/ppt/presentation.xml" Id="R28f94aa9689b47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76702c493a4c01"/>
  </p:sldMasterIdLst>
  <p:notesMasterIdLst>
    <p:notesMasterId xmlns:r="http://schemas.openxmlformats.org/officeDocument/2006/relationships" r:id="R20cee28780394c6f"/>
  </p:notesMasterIdLst>
  <p:sldIdLst>
    <p:sldId xmlns:r="http://schemas.openxmlformats.org/officeDocument/2006/relationships" id="256" r:id="R00b247c2293c4c8f"/>
    <p:sldId xmlns:r="http://schemas.openxmlformats.org/officeDocument/2006/relationships" id="257" r:id="R2637343fd2104b99"/>
    <p:sldId xmlns:r="http://schemas.openxmlformats.org/officeDocument/2006/relationships" id="258" r:id="R64b26ec495b14f5f"/>
    <p:sldId xmlns:r="http://schemas.openxmlformats.org/officeDocument/2006/relationships" id="259" r:id="R79591b19f6e244de"/>
    <p:sldId xmlns:r="http://schemas.openxmlformats.org/officeDocument/2006/relationships" id="260" r:id="Rfd52a961417f4440"/>
    <p:sldId xmlns:r="http://schemas.openxmlformats.org/officeDocument/2006/relationships" id="261" r:id="Rc719676820f145f0"/>
    <p:sldId xmlns:r="http://schemas.openxmlformats.org/officeDocument/2006/relationships" id="262" r:id="Raa0e5ad2bbff40c5"/>
    <p:sldId xmlns:r="http://schemas.openxmlformats.org/officeDocument/2006/relationships" id="263" r:id="R43aee963539d4b63"/>
    <p:sldId xmlns:r="http://schemas.openxmlformats.org/officeDocument/2006/relationships" id="264" r:id="R4c87a1cc57714a3d"/>
    <p:sldId xmlns:r="http://schemas.openxmlformats.org/officeDocument/2006/relationships" id="265" r:id="R1e3e08453f624242"/>
    <p:sldId xmlns:r="http://schemas.openxmlformats.org/officeDocument/2006/relationships" id="266" r:id="Rc1b720ec07ba4426"/>
    <p:sldId xmlns:r="http://schemas.openxmlformats.org/officeDocument/2006/relationships" id="267" r:id="R220cf1edc56946d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fa699df0444a9e" /><Relationship Type="http://schemas.openxmlformats.org/officeDocument/2006/relationships/slideMaster" Target="/ppt/slideMasters/slideMaster1.xml" Id="Rb776702c493a4c01" /><Relationship Type="http://schemas.openxmlformats.org/officeDocument/2006/relationships/notesMaster" Target="/ppt/notesMasters/notesMaster1.xml" Id="R20cee28780394c6f" /><Relationship Type="http://schemas.openxmlformats.org/officeDocument/2006/relationships/presProps" Target="/ppt/presProps.xml" Id="Rffeb5eb4edd145ec" /><Relationship Type="http://schemas.openxmlformats.org/officeDocument/2006/relationships/viewProps" Target="/ppt/viewProps.xml" Id="R796ccdb9936d427a" /><Relationship Type="http://schemas.openxmlformats.org/officeDocument/2006/relationships/tableStyles" Target="/ppt/tableStyles.xml" Id="R325ed6e46b5c4fb4" /><Relationship Type="http://schemas.openxmlformats.org/officeDocument/2006/relationships/slide" Target="/ppt/slides/slide1.xml" Id="R00b247c2293c4c8f" /><Relationship Type="http://schemas.openxmlformats.org/officeDocument/2006/relationships/slide" Target="/ppt/slides/slide2.xml" Id="R2637343fd2104b99" /><Relationship Type="http://schemas.openxmlformats.org/officeDocument/2006/relationships/slide" Target="/ppt/slides/slide3.xml" Id="R64b26ec495b14f5f" /><Relationship Type="http://schemas.openxmlformats.org/officeDocument/2006/relationships/slide" Target="/ppt/slides/slide4.xml" Id="R79591b19f6e244de" /><Relationship Type="http://schemas.openxmlformats.org/officeDocument/2006/relationships/slide" Target="/ppt/slides/slide5.xml" Id="Rfd52a961417f4440" /><Relationship Type="http://schemas.openxmlformats.org/officeDocument/2006/relationships/slide" Target="/ppt/slides/slide6.xml" Id="Rc719676820f145f0" /><Relationship Type="http://schemas.openxmlformats.org/officeDocument/2006/relationships/slide" Target="/ppt/slides/slide7.xml" Id="Raa0e5ad2bbff40c5" /><Relationship Type="http://schemas.openxmlformats.org/officeDocument/2006/relationships/slide" Target="/ppt/slides/slide8.xml" Id="R43aee963539d4b63" /><Relationship Type="http://schemas.openxmlformats.org/officeDocument/2006/relationships/slide" Target="/ppt/slides/slide9.xml" Id="R4c87a1cc57714a3d" /><Relationship Type="http://schemas.openxmlformats.org/officeDocument/2006/relationships/slide" Target="/ppt/slides/slide10.xml" Id="R1e3e08453f624242" /><Relationship Type="http://schemas.openxmlformats.org/officeDocument/2006/relationships/slide" Target="/ppt/slides/slide11.xml" Id="Rc1b720ec07ba4426" /><Relationship Type="http://schemas.openxmlformats.org/officeDocument/2006/relationships/slide" Target="/ppt/slides/slide12.xml" Id="R220cf1edc56946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a4c07c4de74b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75415d94894c95" /><Relationship Type="http://schemas.openxmlformats.org/officeDocument/2006/relationships/notesMaster" Target="/ppt/notesMasters/notesMaster1.xml" Id="R7f259c4b0df744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0d4442d05949a0" /><Relationship Type="http://schemas.openxmlformats.org/officeDocument/2006/relationships/notesMaster" Target="/ppt/notesMasters/notesMaster1.xml" Id="R1a24c6c8b48d46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48efdcc9874750" /><Relationship Type="http://schemas.openxmlformats.org/officeDocument/2006/relationships/notesMaster" Target="/ppt/notesMasters/notesMaster1.xml" Id="Rbe02f8f608484a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20602f4bb346ab" /><Relationship Type="http://schemas.openxmlformats.org/officeDocument/2006/relationships/notesMaster" Target="/ppt/notesMasters/notesMaster1.xml" Id="R5e08d22b701c44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8bab4626c54be1" /><Relationship Type="http://schemas.openxmlformats.org/officeDocument/2006/relationships/notesMaster" Target="/ppt/notesMasters/notesMaster1.xml" Id="Rbc06945354da4b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ecf35a0d6d4eab" /><Relationship Type="http://schemas.openxmlformats.org/officeDocument/2006/relationships/notesMaster" Target="/ppt/notesMasters/notesMaster1.xml" Id="Rd3ffb85405d648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ccb71d57724f18" /><Relationship Type="http://schemas.openxmlformats.org/officeDocument/2006/relationships/notesMaster" Target="/ppt/notesMasters/notesMaster1.xml" Id="R4774487bb4d247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163aedc7ab4da9" /><Relationship Type="http://schemas.openxmlformats.org/officeDocument/2006/relationships/notesMaster" Target="/ppt/notesMasters/notesMaster1.xml" Id="Rb71e78e192464f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abf7b48138430d" /><Relationship Type="http://schemas.openxmlformats.org/officeDocument/2006/relationships/notesMaster" Target="/ppt/notesMasters/notesMaster1.xml" Id="R582464206e2745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958aecc2674c5e" /><Relationship Type="http://schemas.openxmlformats.org/officeDocument/2006/relationships/notesMaster" Target="/ppt/notesMasters/notesMaster1.xml" Id="R25fcb240bedf46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97ce5de2b244b5" /><Relationship Type="http://schemas.openxmlformats.org/officeDocument/2006/relationships/notesMaster" Target="/ppt/notesMasters/notesMaster1.xml" Id="R8943fd96ee414e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7fb2d1353e4a6d" /><Relationship Type="http://schemas.openxmlformats.org/officeDocument/2006/relationships/notesMaster" Target="/ppt/notesMasters/notesMaster1.xml" Id="R94f8afc4b6204b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daf0de20554c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0f54271f454e1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78d7fe5ac40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94ff513fa4b1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976b7e698446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837a32770a483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6c66235764485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04d30e6955496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4f6ec20a0f40f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213cc22fdc41c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cc6750cd040fb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B35D068-120F-4349-A8A8-BD76E69BD27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D01C7E5-6E5C-4220-974E-DB067AC0D8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4F11BCC-AFB6-4AD8-B111-E4ED0D3478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607730-CEC0-4522-9E3B-120DB5137221}" type="datetimeFigureOut">
              <a:t>2026/7/3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4F7F116-2561-43CE-9E6C-7335FA1C28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5D86414-95FA-41B0-A672-C1942796E0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18C4F1-9883-4367-974F-269E7D811B77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FC600C8-5994-4C75-83C1-0E60674FA7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C46E234-B1E0-4C93-8A6D-0F40A58018B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3B08EA-0E6B-4A10-AAF6-EA3946BB6D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607730-CEC0-4522-9E3B-120DB5137221}" type="datetimeFigureOut">
              <a:t>2026/7/3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5138144-6808-4735-B853-3B39299766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223D57-30B3-47B8-8684-049C8C72B4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18C4F1-9883-4367-974F-269E7D811B77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E63C74C-16E1-4EE3-A88F-702C923740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51E2DD4-BCFF-47B4-9F0F-4DEED7B0A1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AB0D4BA-B1F5-45FB-9813-1B46330FD0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607730-CEC0-4522-9E3B-120DB5137221}" type="datetimeFigureOut">
              <a:t>2026/7/3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681F161-28F4-4CC0-B4F5-83BCD90998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00FB85B-2A48-4CEE-BFD4-0216B6F18A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18C4F1-9883-4367-974F-269E7D811B77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795C790-B8F7-4A20-B2A1-6E5CFFF4BD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B520F0D-047E-4923-AD5E-84A615F2A41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06D187C-8F1A-45BB-A74E-2C419B1015F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74BD2B0-B7E9-4A7C-A1E6-804555B34A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607730-CEC0-4522-9E3B-120DB5137221}" type="datetimeFigureOut">
              <a:t>2026/7/3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BE68D3C-CF7E-4F2F-9913-3F48119A17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A36439D-E831-4366-AFD6-78F29A3C0F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18C4F1-9883-4367-974F-269E7D811B77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59F71A-93A5-4478-A4B7-F88191214F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1873807-404A-4951-BB8F-4AB8182EDE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DBBC513-A673-43C2-A751-E25750B3303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08947C0-223C-4E35-B918-0B71BF45325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16F9493D-FF5F-4BD0-9769-FC0AB7041D8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CC829A1-41C0-44AB-9CC8-7AEC13F9B9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607730-CEC0-4522-9E3B-120DB5137221}" type="datetimeFigureOut">
              <a:t>2026/7/3</a:t>
            </a:fld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92FC318F-1F05-4B4D-A25A-0499E76985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50CD97B3-F408-4E3B-A982-7443CAA1BB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18C4F1-9883-4367-974F-269E7D811B77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0B0E75A-6C9A-4171-A5D4-4B7F3513D1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2266C96-C14D-4AFD-8C12-6A9CCFFEBF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607730-CEC0-4522-9E3B-120DB5137221}" type="datetimeFigureOut">
              <a:t>2026/7/3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6B55A78-599C-4B0B-AAE4-95DCE678AE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4FBC4C0-FB5D-4F96-8ADF-717A257EA4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18C4F1-9883-4367-974F-269E7D811B77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1EA3660-9A4F-49A1-A658-783E9941AF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607730-CEC0-4522-9E3B-120DB5137221}" type="datetimeFigureOut">
              <a:t>2026/7/3</a:t>
            </a:fld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5181207C-BB89-4DC0-92CB-67CC8FE736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E219118-D257-458D-8E37-02655B2051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18C4F1-9883-4367-974F-269E7D811B77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2A889B-B74A-4886-8782-A95D89E27C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58C6088-FB91-4453-A5FB-5F514DAAC0B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A7EB05B-9B5F-4988-AB25-8012B641EF6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3567F3E-7A84-499F-BF0B-B54C0C50DE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607730-CEC0-4522-9E3B-120DB5137221}" type="datetimeFigureOut">
              <a:t>2026/7/3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B6526B3-086A-4DAC-A769-0B784516F6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A56C5DF-954B-46F5-9E9D-D85855372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18C4F1-9883-4367-974F-269E7D811B77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E995E6-15AF-48CD-AA1D-23D06058B8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ABD98C58-795E-44C5-A6A4-13001B5B314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6EB6359-308A-4E8A-A60B-D3135B0419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6B2DA6E-EA90-4923-8F15-82C92B27F0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607730-CEC0-4522-9E3B-120DB5137221}" type="datetimeFigureOut">
              <a:t>2026/7/3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C7156AB-82F4-4D3E-B5FF-A2A2E34415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B909C56-40E5-4E75-A60A-DE784401B6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18C4F1-9883-4367-974F-269E7D811B77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7D0FD03-F907-445D-8A7E-A8BC77BB21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02A45C99-61CE-47F2-A89E-953D9A6B62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F322748-CF13-4588-832D-15BEA6829E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607730-CEC0-4522-9E3B-120DB5137221}" type="datetimeFigureOut">
              <a:t>2026/7/3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F3A68D2-DD4E-4DE8-9DF8-FC222F7096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A9A7654-93D5-466C-B224-C82424DDBF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18C4F1-9883-4367-974F-269E7D811B77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F1026AE-9EE0-4B36-9AEF-938017CA92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714FF2C-7679-4F79-8226-ADB0835DDD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42D22E4-1324-4597-80E2-E14C5EEA49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607730-CEC0-4522-9E3B-120DB5137221}" type="datetimeFigureOut">
              <a:t>2026/7/3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322F33F-0C84-4078-BCB2-C1BB08F145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B03A501-67FD-45FE-9342-C09826DEC7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18C4F1-9883-4367-974F-269E7D811B77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46abd9be3c412d" /><Relationship Type="http://schemas.openxmlformats.org/officeDocument/2006/relationships/slideLayout" Target="/ppt/slideLayouts/slideLayout1.xml" Id="Rc133a57d1d8b4a31" /><Relationship Type="http://schemas.openxmlformats.org/officeDocument/2006/relationships/slideLayout" Target="/ppt/slideLayouts/slideLayout2.xml" Id="R6da29aa5fae04641" /><Relationship Type="http://schemas.openxmlformats.org/officeDocument/2006/relationships/slideLayout" Target="/ppt/slideLayouts/slideLayout3.xml" Id="R6f5c1b07956f4d9a" /><Relationship Type="http://schemas.openxmlformats.org/officeDocument/2006/relationships/slideLayout" Target="/ppt/slideLayouts/slideLayout4.xml" Id="R0238156ca52a4442" /><Relationship Type="http://schemas.openxmlformats.org/officeDocument/2006/relationships/slideLayout" Target="/ppt/slideLayouts/slideLayout5.xml" Id="R01a4b986cceb4d26" /><Relationship Type="http://schemas.openxmlformats.org/officeDocument/2006/relationships/slideLayout" Target="/ppt/slideLayouts/slideLayout6.xml" Id="R756ba4eed85f4948" /><Relationship Type="http://schemas.openxmlformats.org/officeDocument/2006/relationships/slideLayout" Target="/ppt/slideLayouts/slideLayout7.xml" Id="R6d029877b0af4b66" /><Relationship Type="http://schemas.openxmlformats.org/officeDocument/2006/relationships/slideLayout" Target="/ppt/slideLayouts/slideLayout8.xml" Id="Rb22c2e164357442f" /><Relationship Type="http://schemas.openxmlformats.org/officeDocument/2006/relationships/slideLayout" Target="/ppt/slideLayouts/slideLayout9.xml" Id="R4a42b68d7cd04a9f" /><Relationship Type="http://schemas.openxmlformats.org/officeDocument/2006/relationships/slideLayout" Target="/ppt/slideLayouts/slideLayout10.xml" Id="Ra07c299293fa41fd" /><Relationship Type="http://schemas.openxmlformats.org/officeDocument/2006/relationships/slideLayout" Target="/ppt/slideLayouts/slideLayout11.xml" Id="R39bb76aa67984e9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FC9B3AA-CC8B-4818-8758-63F5520409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C6CF4EC-D954-4233-969E-53843B8191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EC2C0B0-5944-4C4D-8715-EF18FE84737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F607730-CEC0-4522-9E3B-120DB5137221}" type="datetimeFigureOut">
              <a:t>2026/7/3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B3CD48-36BC-4FBC-9077-44EF72B5F10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88094DB-8C3E-4FC6-B480-553ABA3E4B4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818C4F1-9883-4367-974F-269E7D811B77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33a57d1d8b4a31"/>
    <p:sldLayoutId xmlns:r="http://schemas.openxmlformats.org/officeDocument/2006/relationships" id="2147483650" r:id="R6da29aa5fae04641"/>
    <p:sldLayoutId xmlns:r="http://schemas.openxmlformats.org/officeDocument/2006/relationships" id="2147483651" r:id="R6f5c1b07956f4d9a"/>
    <p:sldLayoutId xmlns:r="http://schemas.openxmlformats.org/officeDocument/2006/relationships" id="2147483652" r:id="R0238156ca52a4442"/>
    <p:sldLayoutId xmlns:r="http://schemas.openxmlformats.org/officeDocument/2006/relationships" id="2147483653" r:id="R01a4b986cceb4d26"/>
    <p:sldLayoutId xmlns:r="http://schemas.openxmlformats.org/officeDocument/2006/relationships" id="2147483654" r:id="R756ba4eed85f4948"/>
    <p:sldLayoutId xmlns:r="http://schemas.openxmlformats.org/officeDocument/2006/relationships" id="2147483655" r:id="R6d029877b0af4b66"/>
    <p:sldLayoutId xmlns:r="http://schemas.openxmlformats.org/officeDocument/2006/relationships" id="2147483656" r:id="Rb22c2e164357442f"/>
    <p:sldLayoutId xmlns:r="http://schemas.openxmlformats.org/officeDocument/2006/relationships" id="2147483657" r:id="R4a42b68d7cd04a9f"/>
    <p:sldLayoutId xmlns:r="http://schemas.openxmlformats.org/officeDocument/2006/relationships" id="2147483658" r:id="Ra07c299293fa41fd"/>
    <p:sldLayoutId xmlns:r="http://schemas.openxmlformats.org/officeDocument/2006/relationships" id="2147483659" r:id="R39bb76aa67984e9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e1c494d0f4f4f" /><Relationship Type="http://schemas.openxmlformats.org/officeDocument/2006/relationships/image" Target="/ppt/media/image.jpeg" Id="R34ff407eb40c4e72" /><Relationship Type="http://schemas.openxmlformats.org/officeDocument/2006/relationships/image" Target="/ppt/media/image.png" Id="R62ed7c61d9594562" /><Relationship Type="http://schemas.openxmlformats.org/officeDocument/2006/relationships/image" Target="/ppt/media/image2.png" Id="Re55fcfb7b861458f" /><Relationship Type="http://schemas.openxmlformats.org/officeDocument/2006/relationships/notesSlide" Target="/ppt/notesSlides/notesSlide1.xml" Id="Re3759524d5f343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22c83216194b61" /><Relationship Type="http://schemas.openxmlformats.org/officeDocument/2006/relationships/image" Target="/ppt/media/image2.jpeg" Id="R9cdd4215e3a84104" /><Relationship Type="http://schemas.openxmlformats.org/officeDocument/2006/relationships/image" Target="/ppt/media/image3.png" Id="R2430cfdd69424558" /><Relationship Type="http://schemas.openxmlformats.org/officeDocument/2006/relationships/notesSlide" Target="/ppt/notesSlides/notesSlide2.xml" Id="Rbc434df2e3f54d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679da9a23471a" /><Relationship Type="http://schemas.openxmlformats.org/officeDocument/2006/relationships/image" Target="/ppt/media/image4.png" Id="R9a9ead10e2704b12" /><Relationship Type="http://schemas.openxmlformats.org/officeDocument/2006/relationships/notesSlide" Target="/ppt/notesSlides/notesSlide3.xml" Id="R16c0f1b5b90b43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701a143514e77" /><Relationship Type="http://schemas.openxmlformats.org/officeDocument/2006/relationships/image" Target="/ppt/media/image4.png" Id="R2cc2f164bfb649db" /><Relationship Type="http://schemas.openxmlformats.org/officeDocument/2006/relationships/notesSlide" Target="/ppt/notesSlides/notesSlide4.xml" Id="R5570e884a7cd45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e4248ce584f85" /><Relationship Type="http://schemas.openxmlformats.org/officeDocument/2006/relationships/image" Target="/ppt/media/image4.png" Id="Raa42d490cb3540ae" /><Relationship Type="http://schemas.openxmlformats.org/officeDocument/2006/relationships/chart" Target="/ppt/slides/charts/chart1.xml" Id="R798b9403f1554ca6" /><Relationship Type="http://schemas.openxmlformats.org/officeDocument/2006/relationships/notesSlide" Target="/ppt/notesSlides/notesSlide5.xml" Id="R48c7c0558a3047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a047b741b46cc" /><Relationship Type="http://schemas.openxmlformats.org/officeDocument/2006/relationships/image" Target="/ppt/media/image4.png" Id="R7f06d4fb68a14375" /><Relationship Type="http://schemas.openxmlformats.org/officeDocument/2006/relationships/notesSlide" Target="/ppt/notesSlides/notesSlide6.xml" Id="R6c77a6fae6e347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e9357c7e44945" /><Relationship Type="http://schemas.openxmlformats.org/officeDocument/2006/relationships/image" Target="/ppt/media/image4.png" Id="R73336cd2c00f4c74" /><Relationship Type="http://schemas.openxmlformats.org/officeDocument/2006/relationships/chart" Target="/ppt/slides/charts/chart2.xml" Id="R51c4f67ef8ac4d48" /><Relationship Type="http://schemas.openxmlformats.org/officeDocument/2006/relationships/notesSlide" Target="/ppt/notesSlides/notesSlide7.xml" Id="R66950aaa448a45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8dd1f779747a8" /><Relationship Type="http://schemas.openxmlformats.org/officeDocument/2006/relationships/image" Target="/ppt/media/image4.png" Id="R559c1050bfd94612" /><Relationship Type="http://schemas.openxmlformats.org/officeDocument/2006/relationships/notesSlide" Target="/ppt/notesSlides/notesSlide8.xml" Id="Rb48601020ce64f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413a1d8f345b7" /><Relationship Type="http://schemas.openxmlformats.org/officeDocument/2006/relationships/image" Target="/ppt/media/image4.png" Id="R0a397a5a3ca245b2" /><Relationship Type="http://schemas.openxmlformats.org/officeDocument/2006/relationships/chart" Target="/ppt/slides/charts/chart3.xml" Id="Rc1ad8447f73e4243" /><Relationship Type="http://schemas.openxmlformats.org/officeDocument/2006/relationships/notesSlide" Target="/ppt/notesSlides/notesSlide9.xml" Id="R432505ed8ac444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bda3366624431" /><Relationship Type="http://schemas.openxmlformats.org/officeDocument/2006/relationships/image" Target="/ppt/media/image4.png" Id="R99c6a94477574f1f" /><Relationship Type="http://schemas.openxmlformats.org/officeDocument/2006/relationships/notesSlide" Target="/ppt/notesSlides/notesSlide10.xml" Id="Rc44c85e1f5a741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741c0cf354c69" /><Relationship Type="http://schemas.openxmlformats.org/officeDocument/2006/relationships/image" Target="/ppt/media/image4.png" Id="R3a7fef50e7634e33" /><Relationship Type="http://schemas.openxmlformats.org/officeDocument/2006/relationships/notesSlide" Target="/ppt/notesSlides/notesSlide11.xml" Id="R6e8c70dd2a3847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d40d5b7c64e37" /><Relationship Type="http://schemas.openxmlformats.org/officeDocument/2006/relationships/image" Target="/ppt/media/image4.png" Id="R5ff5c00d6310496a" /><Relationship Type="http://schemas.openxmlformats.org/officeDocument/2006/relationships/notesSlide" Target="/ppt/notesSlides/notesSlide12.xml" Id="R421addfd4152410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TransUNet</c:v>
          </c:tx>
          <c:spPr>
            <a:solidFill xmlns:a="http://schemas.openxmlformats.org/drawingml/2006/main">
              <a:srgbClr val="7DB7D9"/>
            </a:solidFill>
          </c:spPr>
          <c:cat>
            <c:strLit>
              <c:ptCount val="2"/>
              <c:pt idx="0">
                <c:v>scratch</c:v>
              </c:pt>
              <c:pt idx="1">
                <c:v>pretrained</c:v>
              </c:pt>
            </c:strLit>
          </c:cat>
          <c:val>
            <c:numLit>
              <c:formatCode>General</c:formatCode>
              <c:ptCount val="2"/>
              <c:pt idx="0">
                <c:v>0.7518</c:v>
              </c:pt>
              <c:pt idx="1">
                <c:v>0.7569</c:v>
              </c:pt>
            </c:numLit>
          </c:val>
        </c:ser>
        <c:ser>
          <c:idx val="1"/>
          <c:order val="1"/>
          <c:tx>
            <c:v>green MSE</c:v>
          </c:tx>
          <c:spPr>
            <a:solidFill xmlns:a="http://schemas.openxmlformats.org/drawingml/2006/main">
              <a:srgbClr val="127FC0"/>
            </a:solidFill>
          </c:spPr>
          <c:cat>
            <c:strLit>
              <c:ptCount val="2"/>
              <c:pt idx="0">
                <c:v>scratch</c:v>
              </c:pt>
              <c:pt idx="1">
                <c:v>pretrained</c:v>
              </c:pt>
            </c:strLit>
          </c:cat>
          <c:val>
            <c:numLit>
              <c:formatCode>General</c:formatCode>
              <c:ptCount val="2"/>
              <c:pt idx="0">
                <c:v>0.7584</c:v>
              </c:pt>
              <c:pt idx="1">
                <c:v>0.7578</c:v>
              </c:pt>
            </c:numLit>
          </c:val>
        </c:ser>
        <c:ser>
          <c:idx val="2"/>
          <c:order val="2"/>
          <c:tx>
            <c:v>C3 old</c:v>
          </c:tx>
          <c:spPr>
            <a:solidFill xmlns:a="http://schemas.openxmlformats.org/drawingml/2006/main">
              <a:srgbClr val="F0A43B"/>
            </a:solidFill>
          </c:spPr>
          <c:cat>
            <c:strLit>
              <c:ptCount val="2"/>
              <c:pt idx="0">
                <c:v>scratch</c:v>
              </c:pt>
              <c:pt idx="1">
                <c:v>pretrained</c:v>
              </c:pt>
            </c:strLit>
          </c:cat>
          <c:val>
            <c:numLit>
              <c:formatCode>General</c:formatCode>
              <c:ptCount val="2"/>
              <c:pt idx="0">
                <c:v>0.7576</c:v>
              </c:pt>
              <c:pt idx="1">
                <c:v>0.7592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762"/>
          <c:min val="0.74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E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0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Dice</c:v>
          </c:tx>
          <c:spPr>
            <a:solidFill xmlns:a="http://schemas.openxmlformats.org/drawingml/2006/main">
              <a:srgbClr val="1B8FCB"/>
            </a:solidFill>
          </c:spPr>
          <c:cat>
            <c:strLit>
              <c:ptCount val="5"/>
              <c:pt idx="0">
                <c:v>T pretrained</c:v>
              </c:pt>
              <c:pt idx="1">
                <c:v>green MSE</c:v>
              </c:pt>
              <c:pt idx="2">
                <c:v>E2 V1</c:v>
              </c:pt>
              <c:pt idx="3">
                <c:v>E3 late fusion</c:v>
              </c:pt>
              <c:pt idx="4">
                <c:v>V2 teacher KD</c:v>
              </c:pt>
            </c:strLit>
          </c:cat>
          <c:val>
            <c:numLit>
              <c:formatCode>General</c:formatCode>
              <c:ptCount val="5"/>
              <c:pt idx="0">
                <c:v>0.7567</c:v>
              </c:pt>
              <c:pt idx="1">
                <c:v>0.7583</c:v>
              </c:pt>
              <c:pt idx="2">
                <c:v>0.7502</c:v>
              </c:pt>
              <c:pt idx="3">
                <c:v>0.7546</c:v>
              </c:pt>
              <c:pt idx="4">
                <c:v>0.7543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761"/>
          <c:min val="0.74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E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0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Dice</c:v>
          </c:tx>
          <c:spPr>
            <a:solidFill xmlns:a="http://schemas.openxmlformats.org/drawingml/2006/main">
              <a:srgbClr val="147EBB"/>
            </a:solidFill>
          </c:spPr>
          <c:cat>
            <c:strLit>
              <c:ptCount val="8"/>
              <c:pt idx="0">
                <c:v>F0</c:v>
              </c:pt>
              <c:pt idx="1">
                <c:v>F3</c:v>
              </c:pt>
              <c:pt idx="2">
                <c:v>ensemble</c:v>
              </c:pt>
              <c:pt idx="3">
                <c:v>K0</c:v>
              </c:pt>
              <c:pt idx="4">
                <c:v>K1</c:v>
              </c:pt>
              <c:pt idx="5">
                <c:v>K2</c:v>
              </c:pt>
              <c:pt idx="6">
                <c:v>K3</c:v>
              </c:pt>
              <c:pt idx="7">
                <c:v>K4</c:v>
              </c:pt>
            </c:strLit>
          </c:cat>
          <c:val>
            <c:numLit>
              <c:formatCode>General</c:formatCode>
              <c:ptCount val="8"/>
              <c:pt idx="0">
                <c:v>0.7571</c:v>
              </c:pt>
              <c:pt idx="1">
                <c:v>0.7536</c:v>
              </c:pt>
              <c:pt idx="2">
                <c:v>0.7636</c:v>
              </c:pt>
              <c:pt idx="3">
                <c:v>0.7561</c:v>
              </c:pt>
              <c:pt idx="4">
                <c:v>0.7585</c:v>
              </c:pt>
              <c:pt idx="5">
                <c:v>0.7609</c:v>
              </c:pt>
              <c:pt idx="6">
                <c:v>0.7575</c:v>
              </c:pt>
              <c:pt idx="7">
                <c:v>0.7558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766"/>
          <c:min val="0.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E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0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f407eb40c4e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88" y="0"/>
            <a:ext cx="12177224" cy="6857999"/>
          </a:xfrm>
          <a:prstGeom xmlns:a="http://schemas.openxmlformats.org/drawingml/2006/main" prst="rect">
            <a:avLst/>
          </a:prstGeom>
        </p:spPr>
      </p:pic>
      <p:pic>
        <p:nvPicPr>
          <p:cNvPr id="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d7c61d95945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40699" y="124943"/>
            <a:ext cx="1250851" cy="1250851"/>
          </a:xfrm>
          <a:prstGeom xmlns:a="http://schemas.openxmlformats.org/drawingml/2006/main" prst="rect">
            <a:avLst/>
          </a:prstGeom>
        </p:spPr>
      </p:pic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fcfb7b86145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2292" y="3786762"/>
            <a:ext cx="3815425" cy="953856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5C13CF62-EE19-4921-8C1D-21AF6D1E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92" y="5152977"/>
            <a:ext cx="6295353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甲襞分割进展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3AD799D3-241A-46E1-835D-B6C4224C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92" y="6143987"/>
            <a:ext cx="482854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汇报人：邓健翔    7.10-7.21 实验总结</a:t>
            </a:r>
          </a:p>
        </p:txBody>
      </p:sp>
    </p:spTree>
    <p:extLst>
      <p:ext uri="{BB962C8B-B14F-4D97-AF65-F5344CB8AC3E}">
        <p14:creationId xmlns:p14="http://schemas.microsoft.com/office/powerpoint/2010/main" val="14326308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d4215e3a84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88" y="0"/>
            <a:ext cx="12177224" cy="6857999"/>
          </a:xfrm>
          <a:prstGeom xmlns:a="http://schemas.openxmlformats.org/drawingml/2006/main" prst="rect">
            <a:avLst/>
          </a:prstGeom>
        </p:spPr>
      </p:pic>
      <p:pic>
        <p:nvPicPr>
          <p:cNvPr id="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30cfdd694245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1041" y="307738"/>
            <a:ext cx="3048006" cy="762002"/>
          </a:xfrm>
          <a:prstGeom xmlns:a="http://schemas.openxmlformats.org/drawingml/2006/main" prst="rect">
            <a:avLst/>
          </a:prstGeom>
        </p:spPr>
      </p:pic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37438D3-5F37-40E0-A481-B47A707B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35" y="2680012"/>
            <a:ext cx="5633661" cy="706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从多方向探索到可证伪收敛</a:t>
            </a:r>
          </a:p>
        </p:txBody>
      </p:sp>
    </p:spTree>
    <p:extLst>
      <p:ext uri="{BB962C8B-B14F-4D97-AF65-F5344CB8AC3E}">
        <p14:creationId xmlns:p14="http://schemas.microsoft.com/office/powerpoint/2010/main" val="1976098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直线连接符 5">
            <a:extLst xmlns:a="http://schemas.openxmlformats.org/drawingml/2006/main">
              <a:ext uri="{FF2B5EF4-FFF2-40B4-BE49-F238E27FC236}">
                <a16:creationId xmlns:a16="http://schemas.microsoft.com/office/drawing/2014/main" id="{3FCEE4EE-1761-44F2-994A-95264784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650027" y="581244"/>
            <a:ext cx="3062168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00489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11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ead10e2704b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21630" y="83008"/>
            <a:ext cx="1590565" cy="397642"/>
          </a:xfrm>
          <a:prstGeom xmlns:a="http://schemas.openxmlformats.org/drawingml/2006/main" prst="rect">
            <a:avLst/>
          </a:prstGeom>
        </p:spPr>
      </p:pic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70229E1-2D26-21C0-60D0-C0963C86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6310" y="83185"/>
            <a:ext cx="266001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实验协议与数据边界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A1F79E18-25AE-B2F1-F973-5998302F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0" y="581244"/>
            <a:ext cx="10854109" cy="47705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1. 数据集：dataset_all_filtered；患者级 train / val / test = 81 / 19 / 19 位患者，图像数 1838 / 449 / 436。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2. 核查：三组患者无重叠；image / mask / green teacher 文件名完全对齐。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3. 训练：新实验仅以 val Dice 选择 best checkpoint，不在逐 epoch 使用 test。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4. 统一评估：img_size=256、threshold=0.5；报告 Dice、IoU、Recall、Precision、HD95、clDice、Boundary F1。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5. 当前 test 已参与研发决策，以下称 development-test；论文最终需 outer-CV 或未触碰 holdout。</a:t>
            </a:r>
          </a:p>
        </p:txBody>
      </p:sp>
    </p:spTree>
    <p:extLst>
      <p:ext uri="{BB962C8B-B14F-4D97-AF65-F5344CB8AC3E}">
        <p14:creationId xmlns:p14="http://schemas.microsoft.com/office/powerpoint/2010/main" val="23478384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直线连接符 5">
            <a:extLst xmlns:a="http://schemas.openxmlformats.org/drawingml/2006/main">
              <a:ext uri="{FF2B5EF4-FFF2-40B4-BE49-F238E27FC236}">
                <a16:creationId xmlns:a16="http://schemas.microsoft.com/office/drawing/2014/main" id="{3FCEE4EE-1761-44F2-994A-95264784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650027" y="581244"/>
            <a:ext cx="3062168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00489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11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2f164bfb649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21630" y="83008"/>
            <a:ext cx="1590565" cy="397642"/>
          </a:xfrm>
          <a:prstGeom xmlns:a="http://schemas.openxmlformats.org/drawingml/2006/main" prst="rect">
            <a:avLst/>
          </a:prstGeom>
        </p:spPr>
      </p:pic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70229E1-2D26-21C0-60D0-C0963C86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6310" y="83185"/>
            <a:ext cx="266001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两周实验地图：覆盖探索、复现与反证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A1F79E18-25AE-B2F1-F973-5998302F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0" y="581244"/>
            <a:ext cx="10854109" cy="47705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7/10  E1-E4：各向异性 enhancer、decoder consistency、末端 dual fusion、BN / intensity augmentation 消融。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7/10  C1-C4：形态学与强度先验组合，并检查 clDice / Boundary loss。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7/10  多 seed：scratch 与 ImageNet21k 下，TransUNet / green MSE / C3 三组复现。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7/15  代码审计后 F0-F3：真实并行方向分支与多尺度 prior fusion。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7/17  双专家 ensemble 与 K0-K4 soft-KD：评估互补性能否压缩为单模型。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7/19-21  CGMA 2x2 与 S0-S4：固定 local contrast、boundary / centerline auxiliary 的强协议复核。</a:t>
            </a:r>
          </a:p>
        </p:txBody>
      </p:sp>
    </p:spTree>
    <p:extLst>
      <p:ext uri="{BB962C8B-B14F-4D97-AF65-F5344CB8AC3E}">
        <p14:creationId xmlns:p14="http://schemas.microsoft.com/office/powerpoint/2010/main" val="23478384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直线连接符 5">
            <a:extLst xmlns:a="http://schemas.openxmlformats.org/drawingml/2006/main">
              <a:ext uri="{FF2B5EF4-FFF2-40B4-BE49-F238E27FC236}">
                <a16:creationId xmlns:a16="http://schemas.microsoft.com/office/drawing/2014/main" id="{9D724D58-DD18-425B-8182-C79317A8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650027" y="581244"/>
            <a:ext cx="3062168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00489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23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2d490cb3540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21630" y="83008"/>
            <a:ext cx="1590565" cy="397642"/>
          </a:xfrm>
          <a:prstGeom xmlns:a="http://schemas.openxmlformats.org/drawingml/2006/main" prst="rect">
            <a:avLst/>
          </a:prstGeom>
        </p:spPr>
      </p:pic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CA2EAF1-6090-3E39-8007-EE774DB2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5338"/>
            <a:ext cx="12193712" cy="5268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数据来源：dataset_all_filtered，436 张 development-test 图像；统一阈值 0.5。  来源：results/scratch_delta_multiseed_20260710/metrics_summary.csv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F8AD8148-24CD-77C9-E714-9904CF73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158" y="3479617"/>
            <a:ext cx="420275" cy="2959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[1]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61BE063-DB8C-AEDB-3D7F-7ED0135F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973" y="1483734"/>
            <a:ext cx="3941192" cy="280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从头训练下，green MSE10 Grad0 的提升最稳定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• scratch 三 seed：Dice 0.7584 +/- 0.0011，相对 TransUNet +0.0066；clDice 与 Boundary F1 同步改善。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• 旧 C3 的 HD95 更低，但 Dice 方差更大，未稳定超过 green MSE。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• pretrained 下边际 Dice 收益显著压缩：green MSE +0.0009，C3 +0.0023。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结论：green prior 有效；C3 仅保留为历史结构候选。 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304800" y="952500"/>
          <a:ext xmlns:a="http://schemas.openxmlformats.org/drawingml/2006/main" cx="657225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8b9403f1554ca6"/>
          </a:graphicData>
        </a:graphic>
      </p:graphicFrame>
    </p:spTree>
    <p:extLst>
      <p:ext uri="{BB962C8B-B14F-4D97-AF65-F5344CB8AC3E}">
        <p14:creationId xmlns:p14="http://schemas.microsoft.com/office/powerpoint/2010/main" val="25069421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直线连接符 5">
            <a:extLst xmlns:a="http://schemas.openxmlformats.org/drawingml/2006/main">
              <a:ext uri="{FF2B5EF4-FFF2-40B4-BE49-F238E27FC236}">
                <a16:creationId xmlns:a16="http://schemas.microsoft.com/office/drawing/2014/main" id="{8F48DC8F-8DBE-4D66-B6DC-FC5F6562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650027" y="581244"/>
            <a:ext cx="3062168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00489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22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6d4fb68a143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21630" y="83008"/>
            <a:ext cx="1590565" cy="397642"/>
          </a:xfrm>
          <a:prstGeom xmlns:a="http://schemas.openxmlformats.org/drawingml/2006/main" prst="rect">
            <a:avLst/>
          </a:prstGeom>
        </p:spPr>
      </p:pic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F72E7D12-29B3-7B69-B042-78DD2189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5338"/>
            <a:ext cx="12193712" cy="5268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数据来源：dataset_all_filtered，436 张 development-test 图像；统一阈值 0.5。  来源：four_innovation_probes 与 morph_intensity_combo 汇总。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E346EE8F-DC09-8A46-93ED-CA14BA54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158" y="3479617"/>
            <a:ext cx="420275" cy="2959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[1]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C30A8851-52C9-B2E5-9669-5EDAB222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218" y="767556"/>
            <a:ext cx="3941192" cy="550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E1-E4 与 C1-C4：单次涨点没有形成稳定主线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• E1/C1：各向异性大核带来 Boundary F1 信号，但 Dice 优势有限。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• E2 decoder consistency、E3 late fusion：均未超过对照。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• C2 去 BN 组合明显失败；C4 结构损失提高 clDice 但降低 Dice。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• C3 pretrained seed42 达 0.7606，但多 seed 后仅 +0.0023，且 seed44 回落。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因此不把单次最优 Dice 直接当论文 Ours。 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190500" y="857250"/>
          <a:ext xmlns:a="http://schemas.openxmlformats.org/drawingml/2006/main" cx="6762750" cy="476250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2550"/>
                <a:gridCol w="1352550"/>
                <a:gridCol w="1352550"/>
                <a:gridCol w="1352550"/>
                <a:gridCol w="1352550"/>
              </a:tblGrid>
              <a:tr h="595313">
                <a:tc>
                  <a:txBody>
                    <a:bodyPr/>
                    <a:lstStyle/>
                    <a:p>
                      <a:r>
                        <a:t>实验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口径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相对 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结论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t>E1 anisotropic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0.7576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+0.0009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边界信号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t>E2 decoder 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-0.0065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停止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t>E3 late fusion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0.7546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-0.0021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停止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t>E4b no intensity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0.7581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+0.0014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弱信号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t>C1 anisotropic+no aug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0.7592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+0.0025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BF1 最好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t>C2 no BN+no aug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0.7488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-0.0079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失败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t>C3 old combination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0.7606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+0.0039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多 seed 不稳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0900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直线连接符 5">
            <a:extLst xmlns:a="http://schemas.openxmlformats.org/drawingml/2006/main">
              <a:ext uri="{FF2B5EF4-FFF2-40B4-BE49-F238E27FC236}">
                <a16:creationId xmlns:a16="http://schemas.microsoft.com/office/drawing/2014/main" id="{9D724D58-DD18-425B-8182-C79317A8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650027" y="581244"/>
            <a:ext cx="3062168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00489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23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36cd2c00f4c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21630" y="83008"/>
            <a:ext cx="1590565" cy="397642"/>
          </a:xfrm>
          <a:prstGeom xmlns:a="http://schemas.openxmlformats.org/drawingml/2006/main" prst="rect">
            <a:avLst/>
          </a:prstGeom>
        </p:spPr>
      </p:pic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CA2EAF1-6090-3E39-8007-EE774DB2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5338"/>
            <a:ext cx="12193712" cy="5268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数据来源：dataset_all_filtered，436 张 development-test 图像；统一阈值 0.5。  来源：four_innovation_probes 与 decoder_distill_v2 汇总。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F8AD8148-24CD-77C9-E714-9904CF73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158" y="3479617"/>
            <a:ext cx="420275" cy="2959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[1]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61BE063-DB8C-AEDB-3D7F-7ED0135F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973" y="1483734"/>
            <a:ext cx="3941192" cy="280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decoder 蒸馏和末端双路融合均未成立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• V1：同一网络的 RGB / green 双视图裸 feature MSE，pretrained Dice 0.7502。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• V2：独立 frozen direct-green teacher、final decoder layer、projection + cosine MSE、lambda=0.1，Dice 仍为 0.7543。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• late dual fusion：只在最终 decoder 做 residual fusion，Dice 0.7546；不能代表真正的多尺度 TransFuse。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工程 smoke test、teacher 冻结、shape、路径和权重 reload 均已通过；失败更可能来自机制，而不是低级错误。 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304800" y="952500"/>
          <a:ext xmlns:a="http://schemas.openxmlformats.org/drawingml/2006/main" cx="657225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c4f67ef8ac4d48"/>
          </a:graphicData>
        </a:graphic>
      </p:graphicFrame>
    </p:spTree>
    <p:extLst>
      <p:ext uri="{BB962C8B-B14F-4D97-AF65-F5344CB8AC3E}">
        <p14:creationId xmlns:p14="http://schemas.microsoft.com/office/powerpoint/2010/main" val="25069421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直线连接符 5">
            <a:extLst xmlns:a="http://schemas.openxmlformats.org/drawingml/2006/main">
              <a:ext uri="{FF2B5EF4-FFF2-40B4-BE49-F238E27FC236}">
                <a16:creationId xmlns:a16="http://schemas.microsoft.com/office/drawing/2014/main" id="{8F48DC8F-8DBE-4D66-B6DC-FC5F6562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650027" y="581244"/>
            <a:ext cx="3062168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00489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22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c1050bfd946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21630" y="83008"/>
            <a:ext cx="1590565" cy="397642"/>
          </a:xfrm>
          <a:prstGeom xmlns:a="http://schemas.openxmlformats.org/drawingml/2006/main" prst="rect">
            <a:avLst/>
          </a:prstGeom>
        </p:spPr>
      </p:pic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F72E7D12-29B3-7B69-B042-78DD2189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5338"/>
            <a:ext cx="12193712" cy="5268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数据来源：dataset_all_filtered，436 张 development-test 图像；统一阈值 0.5。  来源：directional_prior_probes 与 pretrained_f0_f3_pair 汇总。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E346EE8F-DC09-8A46-93ED-CA14BA54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158" y="3479617"/>
            <a:ext cx="420275" cy="2959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[1]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C30A8851-52C9-B2E5-9669-5EDAB222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218" y="767556"/>
            <a:ext cx="3941192" cy="550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真实并行方向融合：F3 只留下结构指标信号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• 审计后将 1x7 / 7x1 / 1x21 / 21x1 设为独立并行方向分支；不再混称为旧 C3 的串联大核。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• scratch F3：Dice 与 F0 持平 (+0.0001)，但 HD95 -0.47、Boundary F1 +0.0089。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• pretrained F3：Dice -0.0029，HD95 / clDice / Boundary F1 均变差。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结论：F3 不能作为单模型 Ours，但可作为形态互补教师。 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190500" y="1000125"/>
          <a:ext xmlns:a="http://schemas.openxmlformats.org/drawingml/2006/main" cx="6762750" cy="419100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7125"/>
                <a:gridCol w="1127125"/>
                <a:gridCol w="1127125"/>
                <a:gridCol w="1127125"/>
                <a:gridCol w="1127125"/>
                <a:gridCol w="1127125"/>
              </a:tblGrid>
              <a:tr h="598714">
                <a:tc>
                  <a:txBody>
                    <a:bodyPr/>
                    <a:lstStyle/>
                    <a:p>
                      <a:r>
                        <a:t>方法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 Dice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dev Dice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Delta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HD95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BF1 Delta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t>F0 scratch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0.7897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24.16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base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t>F1 plain green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0.7897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0.7463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-0.0072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25.50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+0.0028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t>F2 directional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0.7896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-0.0018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24.21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+0.0045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t>F3 directional multi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0.7938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+0.0001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23.70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+0.0089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t>F0 pretrained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0.7932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0.7571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21.72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base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t>F3 pretrained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0.7920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-0.0029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22.32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-0.0112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0900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直线连接符 5">
            <a:extLst xmlns:a="http://schemas.openxmlformats.org/drawingml/2006/main">
              <a:ext uri="{FF2B5EF4-FFF2-40B4-BE49-F238E27FC236}">
                <a16:creationId xmlns:a16="http://schemas.microsoft.com/office/drawing/2014/main" id="{54D712D6-317B-4FF6-A24F-044F69F5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650027" y="581244"/>
            <a:ext cx="3062168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00489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22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97a5a3ca245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21630" y="83008"/>
            <a:ext cx="1590565" cy="397642"/>
          </a:xfrm>
          <a:prstGeom xmlns:a="http://schemas.openxmlformats.org/drawingml/2006/main" prst="rect">
            <a:avLst/>
          </a:prstGeom>
        </p:spPr>
      </p:pic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EFBC69B-4D4F-35DE-B86E-D6CB4311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5338"/>
            <a:ext cx="12193712" cy="5268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数据来源：dataset_all_filtered，436 张 development-test 图像；统一阈值 0.5。  来源：results/dual_teacher_kd_20260717。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77C07022-5F26-0C6D-909B-000587FE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57" y="322127"/>
            <a:ext cx="420275" cy="2959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[1]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521D0284-F8E1-A382-D99A-AA42B6D3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32" y="4707096"/>
            <a:ext cx="10854109" cy="15696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双教师验证了“RGB 语义 + green morphology”互补：0.5 概率 ensemble 的 Dice 0.7636，相对 F0 +0.0064，并同步改善 HD95、clDice、Boundary F1。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K2 soft-KD 将部分增益压缩到单个 RGB TransUNet：Dice 0.7609，相对 K0 +0.0047；但未达到预注册 0.7615 保留线，且未保留 ensemble 的全部边界收益。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结论：ensemble 是 development-test 上限和互补性证据，不应报作单模型主结果；当前停止继续调 KD 系数。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23875" y="857250"/>
          <a:ext xmlns:a="http://schemas.openxmlformats.org/drawingml/2006/main" cx="10668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ad8447f73e4243"/>
          </a:graphicData>
        </a:graphic>
      </p:graphicFrame>
    </p:spTree>
    <p:extLst>
      <p:ext uri="{BB962C8B-B14F-4D97-AF65-F5344CB8AC3E}">
        <p14:creationId xmlns:p14="http://schemas.microsoft.com/office/powerpoint/2010/main" val="27469182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直线连接符 5">
            <a:extLst xmlns:a="http://schemas.openxmlformats.org/drawingml/2006/main">
              <a:ext uri="{FF2B5EF4-FFF2-40B4-BE49-F238E27FC236}">
                <a16:creationId xmlns:a16="http://schemas.microsoft.com/office/drawing/2014/main" id="{8F48DC8F-8DBE-4D66-B6DC-FC5F6562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650027" y="581244"/>
            <a:ext cx="3062168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00489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22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6a94477574f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21630" y="83008"/>
            <a:ext cx="1590565" cy="397642"/>
          </a:xfrm>
          <a:prstGeom xmlns:a="http://schemas.openxmlformats.org/drawingml/2006/main" prst="rect">
            <a:avLst/>
          </a:prstGeom>
        </p:spPr>
      </p:pic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F72E7D12-29B3-7B69-B042-78DD2189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5338"/>
            <a:ext cx="12193712" cy="5268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数据来源：dataset_all_filtered，436 张 development-test 图像；统一阈值 0.5。  来源：results/cgma_2x2_20260719/metrics_summary.csv。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E346EE8F-DC09-8A46-93ED-CA14BA54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158" y="3479617"/>
            <a:ext cx="420275" cy="2959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[1]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C30A8851-52C9-B2E5-9669-5EDAB222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218" y="767556"/>
            <a:ext cx="3941192" cy="550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CGMA 2x2：关闭强度增强时有 development-test 信号，但不能与强协议基线混比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• M1 fixed local contrast：Dice +0.0063 vs M0。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• M2 boundary + centerline：Dice +0.0084、HD95 -0.86、clDice +0.0068；患者级 14/19 Dice 改善。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• 但 M0 的 0.7452 明显低于 intensity-on corrected baseline 0.7535。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解释：M2 主要补回关闭 intensity augmentation 的损失，不可宣称超过更强的 scratch baseline。 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190500" y="1000125"/>
          <a:ext xmlns:a="http://schemas.openxmlformats.org/drawingml/2006/main" cx="6762750" cy="400050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7125"/>
                <a:gridCol w="1127125"/>
                <a:gridCol w="1127125"/>
                <a:gridCol w="1127125"/>
                <a:gridCol w="1127125"/>
                <a:gridCol w="1127125"/>
              </a:tblGrid>
              <a:tr h="800100">
                <a:tc>
                  <a:txBody>
                    <a:bodyPr/>
                    <a:lstStyle/>
                    <a:p>
                      <a:r>
                        <a:t>模型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 Dice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dev Dice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Delta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HD95 Delta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判断</a:t>
                      </a:r>
                    </a:p>
                  </a:txBody>
                  <a:tcPr marL="91440" marR="91440" marT="45720" marB="45720"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M0 control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0.7886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0.7452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no-intensity 对照</a:t>
                      </a:r>
                    </a:p>
                  </a:txBody>
                  <a:tcPr marL="91440" marR="91440" marT="45720" marB="45720"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M1 fixed prior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0.7887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+0.0063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-0.45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弱信号</a:t>
                      </a:r>
                    </a:p>
                  </a:txBody>
                  <a:tcPr marL="91440" marR="91440" marT="45720" marB="45720"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M2 structure aux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0.7885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0.7537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+0.0084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-0.86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过分割风险</a:t>
                      </a:r>
                    </a:p>
                  </a:txBody>
                  <a:tcPr marL="91440" marR="91440" marT="45720" marB="45720"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M3 prior + aux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0.7889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+0.0052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-0.28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不叠加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09001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直线连接符 5">
            <a:extLst xmlns:a="http://schemas.openxmlformats.org/drawingml/2006/main">
              <a:ext uri="{FF2B5EF4-FFF2-40B4-BE49-F238E27FC236}">
                <a16:creationId xmlns:a16="http://schemas.microsoft.com/office/drawing/2014/main" id="{9D724D58-DD18-425B-8182-C79317A8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650027" y="581244"/>
            <a:ext cx="3062168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00489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23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fef50e7634e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21630" y="83008"/>
            <a:ext cx="1590565" cy="397642"/>
          </a:xfrm>
          <a:prstGeom xmlns:a="http://schemas.openxmlformats.org/drawingml/2006/main" prst="rect">
            <a:avLst/>
          </a:prstGeom>
        </p:spPr>
      </p:pic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CA2EAF1-6090-3E39-8007-EE774DB2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5338"/>
            <a:ext cx="12193712" cy="5268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数据来源：dataset_all_filtered，436 张 development-test 图像；统一阈值 0.5。  来源：results/structure_aux_intensity_on_20260720/metrics_summary.csv。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F8AD8148-24CD-77C9-E714-9904CF73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158" y="3479617"/>
            <a:ext cx="420275" cy="2959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[1]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61BE063-DB8C-AEDB-3D7F-7ED0135F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973" y="1483734"/>
            <a:ext cx="3941192" cy="280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强增强 S0-S4 复核：CGMA 未在 val 上稳定胜过同协议 TransUNet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• S1 prior：development-test +0.0021，但 val Dice -0.0004。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• S2 boundary + centerline：HD95 -1.13、clDice +0.0036，但 Precision -0.0062，仍偏向过分割。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• S3 低权重明确失败；S4 boundary-only 只是 Precision / Recall 的保守取舍。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预注册规则未通过：最佳 S1 的 val 未达到 +0.001，故不补多 seed，正式停止 CGMA 结构辅助线。 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190500" y="1047750"/>
          <a:ext xmlns:a="http://schemas.openxmlformats.org/drawingml/2006/main" cx="6762750" cy="390525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7125"/>
                <a:gridCol w="1127125"/>
                <a:gridCol w="1127125"/>
                <a:gridCol w="1127125"/>
                <a:gridCol w="1127125"/>
                <a:gridCol w="1127125"/>
              </a:tblGrid>
              <a:tr h="650875">
                <a:tc>
                  <a:txBody>
                    <a:bodyPr/>
                    <a:lstStyle/>
                    <a:p>
                      <a:r>
                        <a:t>模型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 Dice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dev Dice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Delta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结构指标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结论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t>S0 control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0.7904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对照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t>S1 prior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0.7900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0.7534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+0.0021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HD95 -0.63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 未复现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t>S2 bnd+ctr 0.10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0.7893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0.7523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+0.0010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clDice +0.0036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Precision 下降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t>S3 bnd+ctr 0.05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0.7885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-0.0012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BF1 -0.0107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失败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t>S4 boundary 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0.7875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+0.0004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BF1 +0.0012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保守取舍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69421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直线连接符 5">
            <a:extLst xmlns:a="http://schemas.openxmlformats.org/drawingml/2006/main">
              <a:ext uri="{FF2B5EF4-FFF2-40B4-BE49-F238E27FC236}">
                <a16:creationId xmlns:a16="http://schemas.microsoft.com/office/drawing/2014/main" id="{3FCEE4EE-1761-44F2-994A-95264784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650027" y="581244"/>
            <a:ext cx="3062168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00489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11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5c00d631049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21630" y="83008"/>
            <a:ext cx="1590565" cy="397642"/>
          </a:xfrm>
          <a:prstGeom xmlns:a="http://schemas.openxmlformats.org/drawingml/2006/main" prst="rect">
            <a:avLst/>
          </a:prstGeom>
        </p:spPr>
      </p:pic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70229E1-2D26-21C0-60D0-C0963C86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6310" y="83185"/>
            <a:ext cx="266001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结论与下一步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A1F79E18-25AE-B2F1-F973-5998302F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0" y="581244"/>
            <a:ext cx="10854109" cy="47705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可以保留的证据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1. green MSE10 Grad0 在 scratch 三 seed 下相对 TransUNet Dice +0.0066，并改善 clDice / Boundary F1；这是当前最可靠的主发现。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2. RGB F0 与 scratch F3 的 ensemble 达到 Dice 0.7636，证明语义与形态信息互补；K2 KD 有小幅正信号，但尚不足以成为单模型主线。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3. 各向异性、decoder distillation、late dual fusion、CGMA 均有明确边界：存在局部或结构信号，但未在 val / 多 seed 形成可复现单模型净增益。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下一步：</a:t>
            </a:r>
          </a:p>
          <a:p xmlns:a="http://schemas.openxmlformats.org/drawingml/2006/main">
            <a:pPr marL="0" indent="0">
              <a:buNone/>
            </a:pPr>
            <a:r>
              <a:t>• 建立 nnU-Net v2 / MedNeXt 强 baseline；</a:t>
            </a:r>
          </a:p>
          <a:p xmlns:a="http://schemas.openxmlformats.org/drawingml/2006/main">
            <a:pPr marL="0" indent="0">
              <a:buNone/>
            </a:pPr>
            <a:r>
              <a:t>• 冻结 development-test，采用患者级 outer-CV 或 final holdout；</a:t>
            </a:r>
          </a:p>
          <a:p xmlns:a="http://schemas.openxmlformats.org/drawingml/2006/main">
            <a:pPr marL="0" indent="0">
              <a:buNone/>
            </a:pPr>
            <a:r>
              <a:t>• 做误检来源、标注上限、失败病例与下游形态量化。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>SCI 2-3 区的可信路径：稳定多 seed + 强 baseline 增益 + 患者级验证，而非继续追逐单次最高 Dice。</a:t>
            </a:r>
          </a:p>
        </p:txBody>
      </p:sp>
    </p:spTree>
    <p:extLst>
      <p:ext uri="{BB962C8B-B14F-4D97-AF65-F5344CB8AC3E}">
        <p14:creationId xmlns:p14="http://schemas.microsoft.com/office/powerpoint/2010/main" val="2347838411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2026-07-21T02:30:57.9000000Z</dcterms:created>
  <dcterms:modified xsi:type="dcterms:W3CDTF">2026-07-21T02:30:57.9000000Z</dcterms:modified>
</coreProperties>
</file>